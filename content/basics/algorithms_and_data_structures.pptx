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1"/>
  </p:normalViewPr>
  <p:slideViewPr>
    <p:cSldViewPr snapToGrid="0" snapToObjects="1">
      <p:cViewPr varScale="1">
        <p:scale>
          <a:sx n="177" d="100"/>
          <a:sy n="177" d="100"/>
        </p:scale>
        <p:origin x="200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Алгоритмы и структуры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4849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 err="1">
                <a:solidFill>
                  <a:srgbClr val="BBCCDD"/>
                </a:solidFill>
                <a:latin typeface="Calibri"/>
              </a:rPr>
              <a:t>Базовые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структуры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данных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 • 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Двоичный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поиск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 • 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Сортировки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 • 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Двоичная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куча</a:t>
            </a:r>
            <a:r>
              <a:rPr sz="2200" b="0" i="0" dirty="0">
                <a:solidFill>
                  <a:srgbClr val="BBCCDD"/>
                </a:solidFill>
                <a:latin typeface="Calibri"/>
              </a:rPr>
              <a:t>
 </a:t>
            </a:r>
            <a:r>
              <a:rPr sz="2200" b="0" i="0" dirty="0" err="1">
                <a:solidFill>
                  <a:srgbClr val="BBCCDD"/>
                </a:solidFill>
                <a:latin typeface="Calibri"/>
              </a:rPr>
              <a:t>СПбГУ</a:t>
            </a:r>
            <a:endParaRPr sz="2200" b="0" i="0" dirty="0">
              <a:solidFill>
                <a:srgbClr val="BBCCDD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3566160"/>
            <a:ext cx="6705295" cy="27432"/>
          </a:xfrm>
          <a:prstGeom prst="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81904" y="13716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</a:pPr>
            <a:r>
              <a:rPr sz="4800" b="1" i="0">
                <a:solidFill>
                  <a:srgbClr val="004E8C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Базовые структуры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Массив (Array)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Доступ по индексу — O(1)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Фиксированный размер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Вставка / удаление — Θ(n)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Поиск по значению — Θ(n)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  <a:latin typeface="Calibri"/>
              </a:rPr>
              <a:t>a[0..7]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44200" y="1463040"/>
            <a:ext cx="5943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1965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463040"/>
            <a:ext cx="594360" cy="502920"/>
          </a:xfrm>
          <a:prstGeom prst="rect">
            <a:avLst/>
          </a:prstGeom>
          <a:solidFill>
            <a:srgbClr val="D6E4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▲
a[3]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Двумерный массив b[3][4]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747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4747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4747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4747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9319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9319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3931920"/>
            <a:ext cx="54864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3891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3891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43891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38912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846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▲
b[1][2]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Связный список (Linked List)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Узлы: данные + ссылки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Вставка / удаление — O(1)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Доступ к i-му — Θ(i)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Голова и хвост — фиктивные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B5C"/>
                </a:solidFill>
                <a:latin typeface="Calibri"/>
              </a:rPr>
              <a:t>Двусвязный список с фиктивными head и 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1097280" cy="640080"/>
          </a:xfrm>
          <a:prstGeom prst="rect">
            <a:avLst/>
          </a:prstGeom>
          <a:solidFill>
            <a:srgbClr val="EEEEEE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666666"/>
                </a:solidFill>
                <a:latin typeface="Calibri"/>
              </a:rPr>
              <a:t>head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4297680"/>
            <a:ext cx="73152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4206240"/>
            <a:ext cx="1097280" cy="6400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80" y="4297680"/>
            <a:ext cx="73152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0" y="4206240"/>
            <a:ext cx="1097280" cy="6400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26480" y="4297680"/>
            <a:ext cx="73152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4206240"/>
            <a:ext cx="1097280" cy="6400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5279" y="4297680"/>
            <a:ext cx="73152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0" y="4206240"/>
            <a:ext cx="1097280" cy="640080"/>
          </a:xfrm>
          <a:prstGeom prst="rect">
            <a:avLst/>
          </a:prstGeom>
          <a:solidFill>
            <a:srgbClr val="EEEEEE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666666"/>
                </a:solidFill>
                <a:latin typeface="Calibri"/>
              </a:rPr>
              <a:t>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←→  prev / next  ←→       prev / next  ←→       prev / next  ←→       prev / next  ←→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Односвязный список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40880" y="155448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146304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21040" y="155448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46304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01200" y="155448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0" y="146304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Вставка за O(1):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40880" y="2743200"/>
            <a:ext cx="45720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8079" y="2651760"/>
            <a:ext cx="8229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X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321040" y="274320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78240" y="2651760"/>
            <a:ext cx="8229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Связный список — реализация (C++)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struct Node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Node *next, *prev;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struct List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Node *head, *tail;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List()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head = new Node();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tail = new Node();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head-&gt;next = tail;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tail-&gt;prev = head;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void pushBack(int 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Node *v = new Node();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v-&gt;x = x, v-&gt;prev = tail-&gt;prev, v-&gt;next = tail;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v-&gt;prev-&gt;next = v, tail-&gt;prev = v;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void erase(Node *v)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v-&gt;prev-&gt;next = v-&gt;next;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v-&gt;next-&gt;prev = v-&gt;prev;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delete v;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Динамический массив (Dynamic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Место закончилось → удвоить размер, скопировать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Одна вставка: до Θ(n)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Амортизированно: O(1) на вставку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C++: std::vector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Удвоение при заполнении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size = 4, n = 4 (полон!)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4864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783080"/>
            <a:ext cx="54864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783080"/>
            <a:ext cx="54864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83080"/>
            <a:ext cx="54864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498079" y="2286000"/>
            <a:ext cx="228600" cy="36576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size = 8, n = 5 (вставили 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08960"/>
            <a:ext cx="54864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108960"/>
            <a:ext cx="54864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108960"/>
            <a:ext cx="54864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108960"/>
            <a:ext cx="54864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108960"/>
            <a:ext cx="54864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10896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92640" y="310896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41280" y="310896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Амортизационный анализ: суммарно m вставок → O(m)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2024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2316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937760"/>
            <a:ext cx="457200" cy="914400"/>
          </a:xfrm>
          <a:prstGeom prst="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3192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4206240"/>
            <a:ext cx="457200" cy="1645920"/>
          </a:xfrm>
          <a:prstGeom prst="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4068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4652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5236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8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5528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5669280"/>
            <a:ext cx="457200" cy="182879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58200" y="58978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6126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Стоимость операций: обычная = 1, с удвоением = n+1. Среднее ≈ 2 = O(1)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Стек, очередь, дек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2B5C"/>
                </a:solidFill>
                <a:latin typeface="Calibri"/>
              </a:rPr>
              <a:t>Стек (LIFO)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137160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137160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137160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137160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← push/pop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2B5C"/>
                </a:solidFill>
                <a:latin typeface="Calibri"/>
              </a:rPr>
              <a:t>Очередь (FIFO)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pop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←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2B5C"/>
                </a:solidFill>
                <a:latin typeface="Calibri"/>
              </a:rPr>
              <a:t>Дек (Deque)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0" y="155448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B5C"/>
                </a:solidFill>
                <a:latin typeface="Calibri"/>
              </a:rPr>
              <a:t>Реализация дека на циклическом массиве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291840"/>
            <a:ext cx="731520" cy="4572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03120" y="3291840"/>
            <a:ext cx="731520" cy="4572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34640" y="329184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29184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29184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291840"/>
            <a:ext cx="73152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291840"/>
            <a:ext cx="731520" cy="4572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3291840"/>
            <a:ext cx="731520" cy="4572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9748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▲
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▲
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b = начало, e = конец; индексы по модулю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Все операции (pushBack, popBack, pushFront, popFront) — O(1)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При переполнении — удвоение, копирование: O(1) амортизированно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C++: std::stack, std::queue, std::deque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Сравнение базовых структур данных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Структура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Доступ по индексу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Вставка/удаление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Поиск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Память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Массив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Связный список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O(1)*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Динамический массив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 аморт.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Стек / Очередь / Дек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81904" y="13716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</a:pPr>
            <a:r>
              <a:rPr sz="4800" b="1" i="0">
                <a:solidFill>
                  <a:srgbClr val="004E8C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Двоичный поиск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Двоичный поиск — идея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Массив отсортирован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Сравниваем x с a[m], m = (l+r)/2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a[m] = x → нашли!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a[m] &gt; x → ищем в левой половине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a[m] &lt; x → правой половине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O(log n) шагов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B5C"/>
                </a:solidFill>
                <a:latin typeface="Calibri"/>
              </a:rPr>
              <a:t>Пример: ищем x =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Шаг 1: l=0, r=8, m=4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59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91640"/>
            <a:ext cx="54864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59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691640"/>
            <a:ext cx="548640" cy="41148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▲
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Calibri"/>
              </a:rPr>
              <a:t>▲
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▲
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Шаг 2: a[4]=15=x → нашли!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063240"/>
            <a:ext cx="54864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59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3063240"/>
            <a:ext cx="548640" cy="4114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T(n) = T(n/2) + Θ(1) = Θ(log 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Размер области поиска: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63440"/>
            <a:ext cx="4937760" cy="32004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004E8C"/>
                </a:solidFill>
                <a:latin typeface="Calibri"/>
              </a:rPr>
              <a:t>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029200"/>
            <a:ext cx="2468880" cy="32004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004E8C"/>
                </a:solidFill>
                <a:latin typeface="Calibri"/>
              </a:rPr>
              <a:t>n/2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94959"/>
            <a:ext cx="1234440" cy="32004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004E8C"/>
                </a:solidFill>
                <a:latin typeface="Calibri"/>
              </a:rPr>
              <a:t>n/4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760720"/>
            <a:ext cx="621792" cy="320040"/>
          </a:xfrm>
          <a:prstGeom prst="rect">
            <a:avLst/>
          </a:prstGeom>
          <a:solidFill>
            <a:srgbClr val="D6E4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004E8C"/>
                </a:solidFill>
                <a:latin typeface="Calibri"/>
              </a:rPr>
              <a:t>n/8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Двоичный поиск — реализация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int binarySearch(int a[], int n, int 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l = 0, r = n - 1;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(l &lt;= 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int m = l + (r - l) / 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(a[m] == x)  return 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(a[m] &lt; x)   l = m + 1;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else             r = m - 1;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return -1;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Левое вхождение (Lower Bound)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Минимальное i: a[i] ≥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Инвариант: a[l] &lt; x, a[r] ≥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Фиктивные: a[−1] = −∞, a[n] = +∞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Когда l = r−1: ответ = r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C++: std::lower_bound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Пример: x = 5, ищем lower_bound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46304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46304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6304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46304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46304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Ответ: r = 2 (первое вхождение 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1280160" cy="36576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a[i] &lt;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834640"/>
            <a:ext cx="1920240" cy="365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a[i] =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834640"/>
            <a:ext cx="1280160" cy="36576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004E8C"/>
                </a:solidFill>
                <a:latin typeface="Calibri"/>
              </a:rPr>
              <a:t>a[i] &gt;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upper_bound: минимальное i: a[i] &gt; x = 5
Количество вхождений = upper_bound − lower_bound =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Lower Bound — реализация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int lowerBound(const vector&lt;int&gt;&amp; a, int 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l = -1;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r = a.size();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(r - l &gt; 1)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int m = (l + r) / 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(a[m] &lt; 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l = 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else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r = 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return 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// Количество вхождений x: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cnt = upper_bound(a, a+n, x) - lower_bound(a, a+n, x);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Двоичный поиск по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f(i) = 0 при i &lt; t, f(i) = 1 при i ≥ t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Ищем порог t за O(log(R−L))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Вещественный аргумент: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Ищем корень с точностью ε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k = ⌈log₂((R−L)/ε)⌉ итераций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f(i): пороговая функция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828800"/>
            <a:ext cx="50292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828800"/>
            <a:ext cx="50292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828800"/>
            <a:ext cx="50292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828800"/>
            <a:ext cx="502920" cy="41148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82880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82880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82880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82880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27080" y="182880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▲
t =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Вещественный поиск корня f(x) =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09160"/>
            <a:ext cx="502920" cy="82296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03720" y="4572000"/>
            <a:ext cx="502920" cy="6858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4434840"/>
            <a:ext cx="502920" cy="54864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9560" y="4297680"/>
            <a:ext cx="502920" cy="411479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12480" y="4160520"/>
            <a:ext cx="502920" cy="27432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5400" y="4023360"/>
            <a:ext cx="502920" cy="137160"/>
          </a:xfrm>
          <a:prstGeom prst="rect">
            <a:avLst/>
          </a:prstGeom>
          <a:solidFill>
            <a:srgbClr val="FFFFC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418320" y="3886200"/>
            <a:ext cx="502920" cy="27432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921240" y="3749040"/>
            <a:ext cx="502920" cy="411479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424160" y="3611880"/>
            <a:ext cx="502920" cy="54864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927080" y="3474720"/>
            <a:ext cx="502920" cy="6858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L ──────────── x* ──────────── R    (r − l &lt; ε → стоп)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Метод двух указателей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Задача: максимальный подотрезок с суммой ≤ M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При увеличении l правая граница r не уменьшается → Θ(n)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Пример: M = 8, ищем максимальный подотрезок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Шаг: l=0, r=3, sum=6 ≤ 8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7472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47472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47472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59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474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▲
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▲
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Шаг: l=2, r=6, sum=8 ≤ 8 → длина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93776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39" y="493776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493776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93776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9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59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493776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577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▲
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5577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▲
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108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Ключевое наблюдение:
r только увеличивается!
Суммарно r сдвигается ≤ n раз
Итого: Θ(n)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Метод двух указателей — реализация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// Найти максимальный подотрезок a[l..r) с суммой &lt;= 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int maxLen = 0, ansL = 0, ansR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int r = 0, sum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for (int l = 0; l &lt; n; l++)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(r &lt; n &amp;&amp; sum + a[r] &lt;= M)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sum += a[r];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r++;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if (sum &lt;= M &amp;&amp; r - l &gt; maxLen)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maxLen = r - l;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ansL = l;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ansR = 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sum -= a[l];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// Время работы: Θ(n)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81904" y="13716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</a:pPr>
            <a:r>
              <a:rPr sz="4800" b="1" i="0">
                <a:solidFill>
                  <a:srgbClr val="004E8C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Сортировки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Стабильность сортировки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Стабильная: равные элементы
  сохраняют исходный порядок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Инверсия: i &lt; j, но a[i] &gt; a[j]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Отсортирован ⇔ нет инверсий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Пример стабильности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Исходный: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9164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9164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
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69164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169164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
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Стабильная: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97180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
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7180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
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971800"/>
            <a:ext cx="914400" cy="73152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971800"/>
            <a:ext cx="914400" cy="73152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НЕстабильная: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25196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
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251960"/>
            <a:ext cx="914400" cy="7315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
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4251960"/>
            <a:ext cx="914400" cy="73152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4251960"/>
            <a:ext cx="914400" cy="73152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
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A и C поменялись!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Сортировка выбором (Selection Sort) — Θ(n²)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На i-м шаге: найти минимум в a[i..n)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Поставить на позицию i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Θ(n) операций swap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НЕ стабильная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Шаг 1: min=1 на позиции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28016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Шаг 2: min=3 на позиции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28600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28600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28600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28600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28600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Шаг 3: min=4 на позиции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918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2918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29184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2918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29184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Результат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2976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2976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2976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42976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2976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Сортировка вставками (Insertion Sort) — Θ(n + Inv)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Первые i элементов отсортированы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Вставить i-й в нужное место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Стабильная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O(n) на почти отсортированном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Вставляем a[1]=3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28016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28016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a[2]=8 на месте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2402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24028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24028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24028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24028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Вставляем a[3]=1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0040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20040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20040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20040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20040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Вставляем a[4]=4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16052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16052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16052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416052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16052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Результат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1206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51206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51206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51206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5120640"/>
            <a:ext cx="5943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Оценка снизу: Ω(n log n) для сортировок сравнениями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Алгоритм делает ≤ k сравнений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Результатов: ≤ 2^k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Перестановок: n!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2^k ≥ n! → k ≥ Ω(n 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Дерево решений (n = 3)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463040"/>
            <a:ext cx="731520" cy="7315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a&lt;b?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560320"/>
            <a:ext cx="731520" cy="7315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a&lt;c?</a:t>
            </a:r>
          </a:p>
        </p:txBody>
      </p:sp>
      <p:sp>
        <p:nvSpPr>
          <p:cNvPr id="9" name="Oval 8"/>
          <p:cNvSpPr/>
          <p:nvPr/>
        </p:nvSpPr>
        <p:spPr>
          <a:xfrm>
            <a:off x="9875520" y="2560320"/>
            <a:ext cx="731520" cy="7315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b&lt;c?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132320" y="2194560"/>
            <a:ext cx="1280160" cy="36576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2194560"/>
            <a:ext cx="1280160" cy="36576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нет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657600"/>
            <a:ext cx="8229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abc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3566160"/>
            <a:ext cx="640080" cy="64008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b&lt;c?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172200" y="3291840"/>
            <a:ext cx="594360" cy="36576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3291840"/>
            <a:ext cx="502920" cy="27432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052560" y="3657600"/>
            <a:ext cx="82296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bac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3566160"/>
            <a:ext cx="640080" cy="64008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a&lt;c?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464040" y="3291840"/>
            <a:ext cx="594360" cy="36576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3291840"/>
            <a:ext cx="502920" cy="27432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949440" y="4480560"/>
            <a:ext cx="82296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480560"/>
            <a:ext cx="82296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4480560"/>
            <a:ext cx="82296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0" y="4480560"/>
            <a:ext cx="82296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B5C"/>
                </a:solidFill>
                <a:latin typeface="Calibri"/>
              </a:rPr>
              <a:t>Листья = перестановки. Нужно n! = 6 листьев → высота ≥ log₂(6) ≈ 2.6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Квадратичные сортировки — реализация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// Сортировка выбором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void selectionSort(vector&lt;int&gt;&amp; a)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n = a.size();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for (int i = 0; i &lt; n; i++)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int minPos = i;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for (int j = i + 1; j &lt; n; j++)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if (a[minPos] &gt; a[j])  minPos = j;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swap(a[i], a[minPos]);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// Сортировка вставками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void insertionSort(vector&lt;int&gt;&amp; a)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n = a.size();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for (int i = 1; i &lt; n; i++)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for (int j = i; j &gt; 0 &amp;&amp; a[j] &lt; a[j-1]; j--)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swap(a[j], a[j-1]);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Сортировка слиянием (Merge Sort) — Θ(n 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Разделяй и властвуй (1945)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Делим → рекурсия → слияние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T(n) = 2T(n/2) + Θ(n)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Стабильная; Θ(n) доп. памяти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4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Дерево рекурсии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365760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5  3  8  1  4  6  2  7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94560"/>
            <a:ext cx="201168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5  3  8  1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2194560"/>
            <a:ext cx="201168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4  6  2  7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223760" y="1783080"/>
            <a:ext cx="100584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92640" y="1783080"/>
            <a:ext cx="100584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760720" y="3017520"/>
            <a:ext cx="1188720" cy="36576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5  3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017520"/>
            <a:ext cx="1188720" cy="36576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8  1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017520"/>
            <a:ext cx="1188720" cy="36576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4  6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0" y="3017520"/>
            <a:ext cx="1188720" cy="36576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2  7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355080" y="2606040"/>
            <a:ext cx="50292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2606040"/>
            <a:ext cx="50292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829800" y="2606040"/>
            <a:ext cx="50292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64240" y="2606040"/>
            <a:ext cx="502920" cy="411480"/>
          </a:xfrm>
          <a:prstGeom prst="line">
            <a:avLst/>
          </a:prstGeom>
          <a:ln w="25400">
            <a:solidFill>
              <a:srgbClr val="00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Слияние: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4023360"/>
            <a:ext cx="1188720" cy="365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3  5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023360"/>
            <a:ext cx="1188720" cy="365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1  8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023360"/>
            <a:ext cx="1188720" cy="365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4  6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0" y="4023360"/>
            <a:ext cx="1188720" cy="365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2  7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63440"/>
            <a:ext cx="20116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1  3  5  8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4663440"/>
            <a:ext cx="20116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2  4  6  7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5349240"/>
            <a:ext cx="365760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1  2  3  4  5  6  7  8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Merge Sort — реализация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void merge(vector&lt;int&gt;&amp; a, int l, int m, int r, vector&lt;int&gt;&amp; buf)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i = l, j = m, k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(i &lt; m || j &lt; 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(i == m || (j &lt; r &amp;&amp; a[i] &gt; a[j]))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buf[k++] = a[j++];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else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buf[k++] = a[i++];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for (int idx = 0; idx &lt; r - l; idx++)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a[l + idx] = buf[idx];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void mergeSort(vector&lt;int&gt;&amp; a, int l, int r, vector&lt;int&gt;&amp; buf)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if (r - l &lt;= 1) return;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int m = (l + r) / 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mergeSort(a, l, m, buf);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mergeSort(a, m, r, buf);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merge(a, l, m, r, buf);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Быстрая сортировка (Quicksort)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Hoare, 1959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Выбираем pivot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Делим: &lt; x | = x | &gt;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Рекурсия для &lt; x и &gt;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E[T(n)] = O(n log 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Худший случай: Θ(n²)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Partition: pivot x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До: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69164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69164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78440" y="1691640"/>
            <a:ext cx="594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61120" y="2286000"/>
            <a:ext cx="228600" cy="320040"/>
          </a:xfrm>
          <a:prstGeom prst="down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После: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06324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063240"/>
            <a:ext cx="59436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06324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3063240"/>
            <a:ext cx="59436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3063240"/>
            <a:ext cx="5943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063240"/>
            <a:ext cx="5943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52760" y="3063240"/>
            <a:ext cx="59436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11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&lt;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11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=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611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8C"/>
                </a:solidFill>
                <a:latin typeface="Calibri"/>
              </a:rPr>
              <a:t>&gt;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Время работы: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228600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Лучший: Θ(n log 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572000"/>
            <a:ext cx="2286000" cy="45720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E67E22"/>
                </a:solidFill>
                <a:latin typeface="Calibri"/>
              </a:rPr>
              <a:t>Средний: O(n log 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120640"/>
            <a:ext cx="2286000" cy="457200"/>
          </a:xfrm>
          <a:prstGeom prst="rect">
            <a:avLst/>
          </a:prstGeom>
          <a:solidFill>
            <a:srgbClr val="FDEDEC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Худший: Θ(n²)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5120640"/>
            <a:ext cx="22860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НЕ стабильная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Quicksort — доказательство E[T(n)] = O(n 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z₁, z₂, ..., zₙ — элементы отсортированного массива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zᵢ и zⱼ сравнивались ⇔ один из них был выбран как x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Каждая пара сравнивается не более одного раза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P(zᵢ и zⱼ сравнились) = 2/(j − i + 1)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E[T(n)] = ∑ 2/(j−i+1) &lt; 2n ∑ 1/k = O(n log 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Неравенство Маркова: P(T &gt; k·E[T]) ≤ 1/k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Quicksort — partition (Hoare)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int partition(vector&lt;int&gt;&amp; a, int l, int 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int p = l + rand() % (r - l + 1);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int x = a[p];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swap(a[p], a[l]);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int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 = l, j = 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while (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 &lt;= j)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    while (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 &lt;= j &amp;&amp; a[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] &lt; x) 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    while (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 &lt;= j &amp;&amp; a[j] &gt; x)  j--;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    if (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 &gt;= j)  break;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    swap(a[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], a[j]);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i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++;  j--;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return j;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 dirty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void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quickSort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(vector&lt;int&gt;&amp; a, int l, int 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if (l &gt;= r) return;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int m = partition(a, l, 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quickSort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(a, l, 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 i="0" dirty="0" err="1">
                <a:solidFill>
                  <a:srgbClr val="333333"/>
                </a:solidFill>
                <a:latin typeface="Consolas"/>
              </a:rPr>
              <a:t>quickSort</a:t>
            </a:r>
            <a:r>
              <a:rPr sz="1300" b="0" i="0" dirty="0">
                <a:solidFill>
                  <a:srgbClr val="333333"/>
                </a:solidFill>
                <a:latin typeface="Consolas"/>
              </a:rPr>
              <a:t>(a, m + 1, 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k-я порядковая статистика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k-й по возрастанию элемент массива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k=1 — минимум, k=n — максимум, k=⌊(n+1)/2⌋ — медиана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Оптимизация quicksort: рекурсия только в нужную часть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E[T(n)] = O(n) (анализ через фазы)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     –  Центральный элемент: ≥ n/4 меньше и ≥ n/4 больше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     –  P(выбрать центральный) = 1/2; E[итераций в фазе] ≤ 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     –  ∑ O((3/4)^j n) · 2 = O(n)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C++: std::nth_element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Сортировка подсчётом и поразрядная сортировка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  <a:latin typeface="Calibri"/>
              </a:rPr>
              <a:t>Сортировка подсчётом: Θ(n+k)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Вход: значения ∈ [0, 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" y="187451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33333"/>
                </a:solidFill>
                <a:latin typeface="Calibri"/>
              </a:rPr>
              <a:t>a: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828800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Подсчёт: c[v] = сколько раз v встречается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92608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666666"/>
                </a:solidFill>
                <a:latin typeface="Calibri"/>
              </a:rPr>
              <a:t>c[0]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292608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292608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292608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920" y="498347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Результат: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80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28772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0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9064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9356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1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9648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alibri"/>
              </a:rPr>
              <a:t>2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9940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0232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12440" y="5257799"/>
            <a:ext cx="502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3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B5C"/>
                </a:solidFill>
                <a:latin typeface="Calibri"/>
              </a:rPr>
              <a:t>Поразрядная сортировка: Θ(d(n+k))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d раз стабильная сортировка подсчётом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Исход.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657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59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839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436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720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0" y="1965960"/>
            <a:ext cx="640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По ед.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720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355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436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59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457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657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3272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329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0" y="274320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839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← единицы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По дес.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720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59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839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4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355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457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0" y="3520439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657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0" y="35204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← десятки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По сот.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329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436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59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457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4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657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33272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720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72800" y="4297680"/>
            <a:ext cx="64008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839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12880" y="4297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← сотни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A5ACD46-8D89-578E-51F6-E3D0DF0926B2}"/>
              </a:ext>
            </a:extLst>
          </p:cNvPr>
          <p:cNvSpPr/>
          <p:nvPr/>
        </p:nvSpPr>
        <p:spPr>
          <a:xfrm>
            <a:off x="914400" y="404622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alibri"/>
              </a:rPr>
              <a:t>1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8BB202-9884-DFD9-A018-9D2F58364FCC}"/>
              </a:ext>
            </a:extLst>
          </p:cNvPr>
          <p:cNvSpPr txBox="1"/>
          <p:nvPr/>
        </p:nvSpPr>
        <p:spPr>
          <a:xfrm>
            <a:off x="914400" y="45034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c[0]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1847CEC-DF0C-11F1-E5FF-C49AD013E375}"/>
              </a:ext>
            </a:extLst>
          </p:cNvPr>
          <p:cNvSpPr/>
          <p:nvPr/>
        </p:nvSpPr>
        <p:spPr>
          <a:xfrm>
            <a:off x="1554480" y="404622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3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4DE798-69E8-6B17-A0CC-4BB0E8C31568}"/>
              </a:ext>
            </a:extLst>
          </p:cNvPr>
          <p:cNvSpPr txBox="1"/>
          <p:nvPr/>
        </p:nvSpPr>
        <p:spPr>
          <a:xfrm>
            <a:off x="1554480" y="45034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c[1]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2DF7FD1-2F71-2EE2-2529-EC9455B3E577}"/>
              </a:ext>
            </a:extLst>
          </p:cNvPr>
          <p:cNvSpPr/>
          <p:nvPr/>
        </p:nvSpPr>
        <p:spPr>
          <a:xfrm>
            <a:off x="2194560" y="404622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4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8DBC27-33EA-6E0C-183E-583EAE95F259}"/>
              </a:ext>
            </a:extLst>
          </p:cNvPr>
          <p:cNvSpPr txBox="1"/>
          <p:nvPr/>
        </p:nvSpPr>
        <p:spPr>
          <a:xfrm>
            <a:off x="2194560" y="451439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666666"/>
                </a:solidFill>
                <a:latin typeface="Calibri"/>
              </a:rPr>
              <a:t>c[2]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1AC9693-B338-D755-2FCF-56D73B2644E4}"/>
              </a:ext>
            </a:extLst>
          </p:cNvPr>
          <p:cNvSpPr/>
          <p:nvPr/>
        </p:nvSpPr>
        <p:spPr>
          <a:xfrm>
            <a:off x="2834639" y="4046220"/>
            <a:ext cx="640080" cy="411480"/>
          </a:xfrm>
          <a:prstGeom prst="rect">
            <a:avLst/>
          </a:prstGeom>
          <a:solidFill>
            <a:srgbClr val="FEF9E7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7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683F24-2BF8-8894-C077-65B2707976EF}"/>
              </a:ext>
            </a:extLst>
          </p:cNvPr>
          <p:cNvSpPr txBox="1"/>
          <p:nvPr/>
        </p:nvSpPr>
        <p:spPr>
          <a:xfrm>
            <a:off x="2834639" y="45034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c[3]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Сводная таблица сортировок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093210"/>
              </p:ext>
            </p:extLst>
          </p:nvPr>
        </p:nvGraphicFramePr>
        <p:xfrm>
          <a:off x="731520" y="11887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8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Алгоритм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Лучший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Средний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Худший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Память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Стаб.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Выбором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Вставками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O(n²)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Θ(n²)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Слиянием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Θ</a:t>
                      </a:r>
                      <a:r>
                        <a:rPr sz="1400" b="0" i="0" dirty="0">
                          <a:solidFill>
                            <a:srgbClr val="333333"/>
                          </a:solidFill>
                          <a:latin typeface="Calibri"/>
                        </a:rPr>
                        <a:t>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Быстрая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O(n log 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Θ</a:t>
                      </a:r>
                      <a:r>
                        <a:rPr sz="1400" b="0" i="0" dirty="0">
                          <a:solidFill>
                            <a:srgbClr val="333333"/>
                          </a:solidFill>
                          <a:latin typeface="Calibri"/>
                        </a:rPr>
                        <a:t>(n²)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333333"/>
                          </a:solidFill>
                          <a:latin typeface="Calibri"/>
                        </a:rPr>
                        <a:t>O(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  <a:r>
                        <a:rPr sz="1400" b="0" i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Подсчётом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Θ(n+k)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Θ(n+k)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Θ(n+k)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Поразрядная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Θ(d(n+k))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Θ(d(n+k))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Θ(d(n+k))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Θ(n+k)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Heapsort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Нет</a:t>
                      </a:r>
                      <a:endParaRPr sz="1400" b="0" i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81904" y="13716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</a:pPr>
            <a:r>
              <a:rPr sz="4800" b="1" i="0">
                <a:solidFill>
                  <a:srgbClr val="004E8C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Двоичная куча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Двоичная куча — определение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Массив a[1..n] = двоичное дерево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Родитель a[i]: a[⌊i/2⌋]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Дети a[i]: a[2i], a[2i+1]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Свойство: a[i] ≥ a[⌊i/2⌋]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Минимум в корне: O(1)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7795259" y="1783080"/>
            <a:ext cx="1188721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983980" y="1783080"/>
            <a:ext cx="1188720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063740" y="2880360"/>
            <a:ext cx="731519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95259" y="2880360"/>
            <a:ext cx="731521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441180" y="2880360"/>
            <a:ext cx="731520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72700" y="2880360"/>
            <a:ext cx="731519" cy="5029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0" y="1188720"/>
            <a:ext cx="594360" cy="594360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097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228600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dirty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0" y="228600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38328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338328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0" y="338328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dirty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10607040" y="3383280"/>
            <a:ext cx="594360" cy="59436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B5C"/>
                </a:solidFill>
                <a:latin typeface="Calibri"/>
              </a:rPr>
              <a:t>Массив: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63440"/>
            <a:ext cx="640080" cy="457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9" y="4663440"/>
            <a:ext cx="640080" cy="457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59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B5C"/>
                </a:solidFill>
                <a:latin typeface="Calibri"/>
              </a:rPr>
              <a:t>parent(i) = ⌊i/2⌋      left(i) = 2i      right(i) = 2i+1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Операции: siftUp и siftDown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siftUp(7): вставили 0, поднимаем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23060" y="19659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37460" y="19659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658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230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946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18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286000" y="146304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2860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2286000"/>
            <a:ext cx="502920" cy="502920"/>
          </a:xfrm>
          <a:prstGeom prst="ellipse">
            <a:avLst/>
          </a:prstGeom>
          <a:solidFill>
            <a:srgbClr val="FEF9E7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0" y="3108960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↑ поднимаем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Результат: 0 поднялся в корень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23060" y="47091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37460" y="47091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658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230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946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518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286000" y="4206240"/>
            <a:ext cx="502920" cy="502920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50292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0" y="50292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18288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27432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siftDown(1): удалили мин., опускаем 6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023860" y="19659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38260" y="19659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5666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238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395460" y="27889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686800" y="1463040"/>
            <a:ext cx="502920" cy="50292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0" y="22860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42" name="Oval 41"/>
          <p:cNvSpPr/>
          <p:nvPr/>
        </p:nvSpPr>
        <p:spPr>
          <a:xfrm>
            <a:off x="9601200" y="2286000"/>
            <a:ext cx="502920" cy="502920"/>
          </a:xfrm>
          <a:prstGeom prst="ellipse">
            <a:avLst/>
          </a:prstGeom>
          <a:solidFill>
            <a:srgbClr val="FEF9E7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45" name="Oval 44"/>
          <p:cNvSpPr/>
          <p:nvPr/>
        </p:nvSpPr>
        <p:spPr>
          <a:xfrm>
            <a:off x="9144000" y="31089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↓ опускаем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Результат: 6 опустился, 2 стал корнем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8023860" y="47091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938260" y="4709160"/>
            <a:ext cx="9144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5666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0238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395460" y="5532120"/>
            <a:ext cx="457200" cy="3200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86800" y="4206240"/>
            <a:ext cx="502920" cy="502920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54" name="Oval 53"/>
          <p:cNvSpPr/>
          <p:nvPr/>
        </p:nvSpPr>
        <p:spPr>
          <a:xfrm>
            <a:off x="7772400" y="50292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55" name="Oval 54"/>
          <p:cNvSpPr/>
          <p:nvPr/>
        </p:nvSpPr>
        <p:spPr>
          <a:xfrm>
            <a:off x="9601200" y="502920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73152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57" name="Oval 56"/>
          <p:cNvSpPr/>
          <p:nvPr/>
        </p:nvSpPr>
        <p:spPr>
          <a:xfrm>
            <a:off x="82296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58" name="Oval 57"/>
          <p:cNvSpPr/>
          <p:nvPr/>
        </p:nvSpPr>
        <p:spPr>
          <a:xfrm>
            <a:off x="9144000" y="5852160"/>
            <a:ext cx="502920" cy="50292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siftUp / siftDown — псевдокод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143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1">
                <a:solidFill>
                  <a:srgbClr val="666666"/>
                </a:solidFill>
                <a:latin typeface="Calibri"/>
              </a:rPr>
              <a:t>Pseudocode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siftUp(i):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i &gt; 1 and a[i] &lt; a[i/2]: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swap(a[i], a[i/2])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 /=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siftDown(i):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while 2*i &lt;= sz: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j = 2*i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2*i+1 &lt;= sz and a[2*i+1] &lt; a[2*i]: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j = 2*i+1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// j — номер минимального ребёнка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if a[j] &gt;= a[i]: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    break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swap(a[j], a[i])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    i = j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 b="0" i="0">
              <a:solidFill>
                <a:srgbClr val="333333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insert(x):                    extractMin():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sz += 1                       swap(a[1], a[sz])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a[sz] = x                     sz -=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    siftUp(sz)                    if sz &gt;= 1: siftDown(1)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Построение кучи за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Наивно: n × insert = O(n log 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Оптимально: siftDown от всех
  не-листьев снизу вверх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∑ h · 2^(k+1−h) =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Процесс построения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① Исходный массив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684264" y="216712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24344" y="216712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409944" y="276148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84264" y="2761488"/>
            <a:ext cx="274319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132320" y="178308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237744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 i="0" dirty="0">
                <a:solidFill>
                  <a:srgbClr val="333333"/>
                </a:solidFill>
                <a:latin typeface="Calibri"/>
              </a:rPr>
              <a:t>9</a:t>
            </a:r>
            <a:endParaRPr sz="1000" b="1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0" y="237744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9" y="297180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41732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666666"/>
                </a:solidFill>
                <a:latin typeface="Calibri"/>
              </a:rPr>
              <a:t>② </a:t>
            </a:r>
            <a:r>
              <a:rPr sz="1100" b="1" i="0" dirty="0" err="1">
                <a:solidFill>
                  <a:srgbClr val="666666"/>
                </a:solidFill>
                <a:latin typeface="Calibri"/>
              </a:rPr>
              <a:t>siftDown</a:t>
            </a:r>
            <a:r>
              <a:rPr sz="1100" b="1" i="0" dirty="0">
                <a:solidFill>
                  <a:srgbClr val="666666"/>
                </a:solidFill>
                <a:latin typeface="Calibri"/>
              </a:rPr>
              <a:t>(2): </a:t>
            </a:r>
            <a:r>
              <a:rPr lang="en-US" sz="1100" b="1" dirty="0">
                <a:solidFill>
                  <a:srgbClr val="666666"/>
                </a:solidFill>
                <a:latin typeface="Calibri"/>
              </a:rPr>
              <a:t>9</a:t>
            </a:r>
            <a:r>
              <a:rPr sz="1100" b="1" i="0" dirty="0">
                <a:solidFill>
                  <a:srgbClr val="666666"/>
                </a:solidFill>
                <a:latin typeface="Calibri"/>
              </a:rPr>
              <a:t>↓1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884664" y="216712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24744" y="216712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610344" y="276148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84664" y="276148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332720" y="178308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9692640" y="2377440"/>
            <a:ext cx="384048" cy="384048"/>
          </a:xfrm>
          <a:prstGeom prst="ellipse">
            <a:avLst/>
          </a:prstGeom>
          <a:solidFill>
            <a:srgbClr val="FEF9E7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237744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9418320" y="297180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9966960" y="297180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Calibri"/>
              </a:rPr>
              <a:t>9</a:t>
            </a:r>
            <a:endParaRPr sz="1000" b="1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0" y="3977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③ siftDown(1): 4↓5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684264" y="472744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24344" y="472744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409944" y="532180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84264" y="5321808"/>
            <a:ext cx="274319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132320" y="4343400"/>
            <a:ext cx="384048" cy="384048"/>
          </a:xfrm>
          <a:prstGeom prst="ellipse">
            <a:avLst/>
          </a:prstGeom>
          <a:solidFill>
            <a:srgbClr val="FEF9E7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93776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493776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553212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766559" y="5532120"/>
            <a:ext cx="384048" cy="384048"/>
          </a:xfrm>
          <a:prstGeom prst="ellipse">
            <a:avLst/>
          </a:prstGeom>
          <a:solidFill>
            <a:srgbClr val="EBF5FB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 i="0" dirty="0">
                <a:solidFill>
                  <a:srgbClr val="333333"/>
                </a:solidFill>
                <a:latin typeface="Calibri"/>
              </a:rPr>
              <a:t>9</a:t>
            </a:r>
            <a:endParaRPr sz="1000" b="1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0" y="3977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④ Результат — куча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884664" y="472744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524744" y="4727448"/>
            <a:ext cx="64008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610344" y="532180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84664" y="5321808"/>
            <a:ext cx="274320" cy="2103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332720" y="4343400"/>
            <a:ext cx="384048" cy="384048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9692640" y="4937760"/>
            <a:ext cx="384048" cy="384048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44" name="Oval 43"/>
          <p:cNvSpPr/>
          <p:nvPr/>
        </p:nvSpPr>
        <p:spPr>
          <a:xfrm>
            <a:off x="10972800" y="4937760"/>
            <a:ext cx="384048" cy="384048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9418320" y="5532120"/>
            <a:ext cx="384048" cy="384048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9966960" y="5532120"/>
            <a:ext cx="384048" cy="384048"/>
          </a:xfrm>
          <a:prstGeom prst="ellipse">
            <a:avLst/>
          </a:prstGeom>
          <a:solidFill>
            <a:srgbClr val="E8F8F5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 i="0" dirty="0">
                <a:solidFill>
                  <a:srgbClr val="333333"/>
                </a:solidFill>
                <a:latin typeface="Calibri"/>
              </a:rPr>
              <a:t>9</a:t>
            </a:r>
            <a:endParaRPr sz="1000" b="1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8686800" y="2560320"/>
            <a:ext cx="36576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Down Arrow 47"/>
          <p:cNvSpPr/>
          <p:nvPr/>
        </p:nvSpPr>
        <p:spPr>
          <a:xfrm>
            <a:off x="7315200" y="3520440"/>
            <a:ext cx="228600" cy="320040"/>
          </a:xfrm>
          <a:prstGeom prst="down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ght Arrow 48"/>
          <p:cNvSpPr/>
          <p:nvPr/>
        </p:nvSpPr>
        <p:spPr>
          <a:xfrm>
            <a:off x="8686800" y="5074920"/>
            <a:ext cx="36576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Heapsort — O(n log n), in-place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Строим max-кучу за O(n)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Извлекаем max → конец массива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siftDown для восстановления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НЕ стабильная; O(1) доп. памяти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Max-куча: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8700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92840" y="105156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Извлекли 9: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21031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92840" y="210312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Извлекли 8: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87000" y="3154679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0" y="3154679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92840" y="3154679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... Результат: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8992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92840" y="4206240"/>
            <a:ext cx="502920" cy="411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72AADE-09F0-0D57-BBD5-6DD541A182A1}"/>
              </a:ext>
            </a:extLst>
          </p:cNvPr>
          <p:cNvSpPr/>
          <p:nvPr/>
        </p:nvSpPr>
        <p:spPr>
          <a:xfrm>
            <a:off x="777240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0" i="0" dirty="0">
                <a:solidFill>
                  <a:srgbClr val="333333"/>
                </a:solidFill>
                <a:latin typeface="Calibri"/>
              </a:rPr>
              <a:t>8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879CB9-4869-836D-A274-42DC1C33D888}"/>
              </a:ext>
            </a:extLst>
          </p:cNvPr>
          <p:cNvSpPr/>
          <p:nvPr/>
        </p:nvSpPr>
        <p:spPr>
          <a:xfrm>
            <a:off x="827532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F979BF-C68A-3125-B6B2-E156B5F901DA}"/>
              </a:ext>
            </a:extLst>
          </p:cNvPr>
          <p:cNvSpPr/>
          <p:nvPr/>
        </p:nvSpPr>
        <p:spPr>
          <a:xfrm>
            <a:off x="877824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alibri"/>
              </a:rPr>
              <a:t>2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678AC2-D263-03B3-3543-EC59579082FE}"/>
              </a:ext>
            </a:extLst>
          </p:cNvPr>
          <p:cNvSpPr/>
          <p:nvPr/>
        </p:nvSpPr>
        <p:spPr>
          <a:xfrm>
            <a:off x="928116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3281DD-43EC-2A35-76DB-E08CB34ADC9D}"/>
              </a:ext>
            </a:extLst>
          </p:cNvPr>
          <p:cNvSpPr/>
          <p:nvPr/>
        </p:nvSpPr>
        <p:spPr>
          <a:xfrm>
            <a:off x="978408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2397F6-6EE8-276A-0A84-6A490F20315A}"/>
              </a:ext>
            </a:extLst>
          </p:cNvPr>
          <p:cNvSpPr/>
          <p:nvPr/>
        </p:nvSpPr>
        <p:spPr>
          <a:xfrm>
            <a:off x="1028700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52BFB9-3111-82C9-6198-3BFEB3DE3EF7}"/>
              </a:ext>
            </a:extLst>
          </p:cNvPr>
          <p:cNvSpPr/>
          <p:nvPr/>
        </p:nvSpPr>
        <p:spPr>
          <a:xfrm>
            <a:off x="1078992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C0DE72-9EBB-B095-4939-E0BC1F212E71}"/>
              </a:ext>
            </a:extLst>
          </p:cNvPr>
          <p:cNvSpPr/>
          <p:nvPr/>
        </p:nvSpPr>
        <p:spPr>
          <a:xfrm>
            <a:off x="11292840" y="1531620"/>
            <a:ext cx="502920" cy="4114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alibri"/>
              </a:rPr>
              <a:t>9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Очередь с приоритетами и доп. операции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Priority Queue: извлекается элемент с макс. приоритетом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Реализация: двоичная куча (max в корне)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C++: std::priority_queue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Удаление элемента на позиции i:
  swap(a[i], a[sz]), sz--, siftUp(i), siftDown(i): O(log 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Изменение приоритета: change(i, x):
  a[i] = x, siftUp(i), siftDown(i): O(log n)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Массив pos[obj] → позиция в куче для быстрого доступа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Фибоначчиевы кучи (дополнительно)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Fredman &amp; Tarjan, 1987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getMin: O(1), insert: O(1) аморт., decrease-key: O(1) аморт.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extractMin / delete: O(log n) аморт.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Улучшает оценки для алгоритма Дейкстры и др.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На практике: сложная реализация, большая константа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800" b="1" i="0">
                <a:solidFill>
                  <a:srgbClr val="004E8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Двоичная куча обычно быстрее на реальных данных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8288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 Light"/>
              </a:rPr>
              <a:t>Итоговая сводка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Тема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Ключевые структуры/алгоритмы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Основные сложности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Базовые структуры
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Массив, связный список,
дин. массив, стек, очередь, дек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O(1) доступ/вставка
(зависит от структуры)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Двоичный поиск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Бинарный поиск, lower/upper bound,
поиск по функции, два указателя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O(log n) поиск,
O(n) два указателя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Сортировки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Выбором, вставками, слиянием,
быстрая, подсчётом, поразрядная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Ω(n log n) нижняя граница
(сравнениями)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Двоичная куча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siftUp/siftDown, heapsort,
priority queue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O(log n) вставка/удаление
O(n) построение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 Light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CCDD"/>
                </a:solidFill>
                <a:latin typeface="Calibri"/>
              </a:rPr>
              <a:t>apmath-spbu.github.io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4156</Words>
  <Application>Microsoft Macintosh PowerPoint</Application>
  <PresentationFormat>Widescreen</PresentationFormat>
  <Paragraphs>930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Al.Ulanov</cp:lastModifiedBy>
  <cp:revision>2</cp:revision>
  <dcterms:created xsi:type="dcterms:W3CDTF">2013-01-27T09:14:16Z</dcterms:created>
  <dcterms:modified xsi:type="dcterms:W3CDTF">2026-03-02T08:40:17Z</dcterms:modified>
  <cp:category/>
</cp:coreProperties>
</file>